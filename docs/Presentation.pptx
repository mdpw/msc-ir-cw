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95" r:id="rId7"/>
    <p:sldId id="296" r:id="rId8"/>
    <p:sldId id="301" r:id="rId9"/>
    <p:sldId id="297" r:id="rId10"/>
    <p:sldId id="298" r:id="rId11"/>
    <p:sldId id="299" r:id="rId12"/>
    <p:sldId id="300" r:id="rId13"/>
    <p:sldId id="302" r:id="rId14"/>
    <p:sldId id="304" r:id="rId15"/>
    <p:sldId id="3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52D5-764A-F583-3DB7-22D00535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249B6-A01F-70F1-4DEE-75272396A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656DF-DE54-6681-555E-790FAEF1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5EB2-219C-4ADE-9396-FBC345A47DB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C1178-A758-F585-7866-FD1A77CE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8300E-C943-0904-531E-4246AD69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49DE9-DE80-4F9E-9C37-19AADE5B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4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B9E4-38D3-AE51-6ED3-FD9865DE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AC3D-71FD-3982-9E98-CC77AA4D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C956-0020-3349-A69E-1C6B500F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42A08-0B25-5F0B-60FC-3A373966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0C8F2-B04F-979F-F66D-8D76E782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3008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A9E1-F6F8-507F-6D68-6B93132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57539-EE72-6C01-AF6A-885C677F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5465A-5323-4964-03E6-B3EAEB51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1AE8-98F1-45A7-9C4F-CB5D80E2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EA9C-ED92-88F0-AB2E-2E0AC3A2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0867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8C6A-C72F-AAA7-4C56-1A9FBA07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5FBE8-CC68-4716-BBAB-238B7D8A4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17883-82E5-AFB8-B9AE-027BAF520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32038-6CB2-646B-8126-E6C025EF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CF7A7-C782-EC9C-6E79-A4908470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32EC1-9BC9-8E04-874C-CB006446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2846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5319-CC67-A93B-338F-29EFA0E8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C293-313C-328C-327D-C36362054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45492-8CEB-4EF8-67E6-44424CA9F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FA8BE-5DF7-F7A2-EB22-96F983383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873A0-D984-4461-48FB-6680FC49F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7518A-737D-1DBC-0A4E-C73497F2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8BB7A-CC4C-27A3-6E4F-639E03A7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10FA5-B774-9EF6-5858-6784B9AD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299578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B3D1-9799-2367-35BA-29A8C815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E1A84-8D56-432B-A8B0-C12FEE5A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99BF1-1883-55C9-D9DF-B0F348CF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2DF89-FD0D-D75A-FAB9-278C26C8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38816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925D9-6630-2568-F5DE-1E97AA26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0F14B-ACBA-4429-F048-CDBF56DA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7D54A-5889-EB7B-B54F-6A1ABA6A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8416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8F07-9FCB-16E1-EA02-9242B7D4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BEBF9-916C-438B-DCF5-65E6D38C0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CF8C4-BB08-88B4-38F0-B93A690CA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66824-883C-7986-F61D-28D6319E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B8383-D351-7571-65AA-0404530C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A40D9-20A3-B07B-20FE-021E56C7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7369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E3BD-E79C-2C86-BDE5-5B057316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0C0FA-0798-0827-F96B-1C699B641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E9887-4261-B544-B2F4-91B854C82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78E9D-27E9-FE18-18AE-D9C39DAD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BE35F-E729-E6EB-5EBD-DE98F19F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A0525-387B-62B2-D309-CB70130D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5210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51B2-DD12-8ED9-CEF5-863489C4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B0E62-6E21-07D1-787F-83D5EC58A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E765E-D590-E623-BEB8-7618E7A1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1BFF-5689-5024-D04B-491888F0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598A3-50D4-9CC7-7AEB-C5CC9890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90564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0474D-AAA1-F4DA-9D9D-2C2E9B371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BF6EA-5998-23BE-F844-D4156A45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79B5-8A45-EA78-5A06-F765063D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4CC5B-7799-079F-1367-77217B3F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EC31-2770-C3D1-7C0A-EFADD5D4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0032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1029B-4AA7-D3A8-68CC-D22B53F7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19A49-EBDB-D7A2-50F6-803185C03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AA25-9066-0DB5-A90C-4EFBB7DF1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C727-5358-D217-F179-19AA7550F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A8D97-405E-1BED-52FF-F88C0A6C9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6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dpw/msc-ir-cw" TargetMode="External"/><Relationship Id="rId3" Type="http://schemas.openxmlformats.org/officeDocument/2006/relationships/hyperlink" Target="https://msc-ir-cw-v4ys66njic6dv7qjtvgrry.streamlit.app/" TargetMode="External"/><Relationship Id="rId7" Type="http://schemas.openxmlformats.org/officeDocument/2006/relationships/hyperlink" Target="https://nibm-my.sharepoint.com/:f:/g/personal/comscds241p-002_student_nibm_lk/IgD8Jl7XUNpYSpUh9d6KvTCMAZi4CR7FBbpBNQlKS5y5wkE?e=ZCJLk0" TargetMode="External"/><Relationship Id="rId2" Type="http://schemas.openxmlformats.org/officeDocument/2006/relationships/hyperlink" Target="https://nibm-my.sharepoint.com/:f:/g/personal/comscds241p-002_student_nibm_lk/IgArH9a23wumTJWB6i0IqsbOAfRdwv59nF0vGXS3nqKMm_g?e=z44a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#_Results,_Evaluation,_and"/><Relationship Id="rId5" Type="http://schemas.openxmlformats.org/officeDocument/2006/relationships/hyperlink" Target="#_4.6.2_View_Results"/><Relationship Id="rId4" Type="http://schemas.openxmlformats.org/officeDocument/2006/relationships/hyperlink" Target="#_System_Architectural_Diagram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Brandix 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Intelligent Strategic Planning Synchronization System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23E359-CAEB-9EA2-7B0F-F5801694054D}"/>
              </a:ext>
            </a:extLst>
          </p:cNvPr>
          <p:cNvSpPr txBox="1">
            <a:spLocks/>
          </p:cNvSpPr>
          <p:nvPr/>
        </p:nvSpPr>
        <p:spPr>
          <a:xfrm>
            <a:off x="1392242" y="4304000"/>
            <a:ext cx="4786884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masis MT Pro Medium" panose="02040604050005020304" pitchFamily="18" charset="0"/>
              <a:cs typeface="AngsanaUPC" panose="020B0502040204020203" pitchFamily="18" charset="-34"/>
            </a:endParaRP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Information Retrieval </a:t>
            </a: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MSc. Data Science</a:t>
            </a: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Coventry University, UK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8DFD58D-20CC-F8FE-F637-63F0F7B6A794}"/>
              </a:ext>
            </a:extLst>
          </p:cNvPr>
          <p:cNvSpPr txBox="1">
            <a:spLocks/>
          </p:cNvSpPr>
          <p:nvPr/>
        </p:nvSpPr>
        <p:spPr>
          <a:xfrm>
            <a:off x="5881116" y="4553321"/>
            <a:ext cx="4786884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M.D.P. Wijesuriya</a:t>
            </a: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Student ID (Coventry Uni.): 15764609</a:t>
            </a: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Student ID (NIBM): comscds241p-002</a:t>
            </a:r>
          </a:p>
          <a:p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masis MT Pro Medium" panose="02040604050005020304" pitchFamily="18" charset="0"/>
                <a:cs typeface="AngsanaUPC" panose="020B0502040204020203" pitchFamily="18" charset="-34"/>
              </a:rPr>
              <a:t>2024 Batch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498763"/>
            <a:ext cx="7277101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&amp;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8" y="1366982"/>
            <a:ext cx="9131301" cy="48583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The Challenge: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Organizations struggle to align 5-year strategic plans with annual action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verification is time-consuming and subjective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Gaps discovered too late</a:t>
            </a:r>
          </a:p>
          <a:p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Brandix Case: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179 strategic objectives (2025-2030)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Different actions in multiple annual action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 automated, objective alignment measurement</a:t>
            </a:r>
          </a:p>
          <a:p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Solution:</a:t>
            </a:r>
            <a:r>
              <a:rPr lang="en-US" sz="1800" dirty="0"/>
              <a:t> AI-powered semantic analysis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3634-EF81-379D-B872-A6936D19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B59E-6EB0-CF48-E4E9-6D18AC793C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98763"/>
            <a:ext cx="4393046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2170-BBBF-8F55-315B-5D99E8E9F0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54" y="1366983"/>
            <a:ext cx="4045527" cy="4405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What ISPS Does: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Automates alignment analysis -</a:t>
            </a:r>
            <a:r>
              <a:rPr lang="en-US" sz="1600" dirty="0"/>
              <a:t> Semantic similarity matching</a:t>
            </a:r>
          </a:p>
          <a:p>
            <a:r>
              <a:rPr lang="en-US" sz="1600" b="1" dirty="0"/>
              <a:t>Identifies strategic gaps</a:t>
            </a:r>
            <a:r>
              <a:rPr lang="en-US" sz="1600" dirty="0"/>
              <a:t> - Detects weak alignments and orphans</a:t>
            </a:r>
          </a:p>
          <a:p>
            <a:r>
              <a:rPr lang="en-US" sz="1600" b="1" dirty="0"/>
              <a:t>Generates AI insights</a:t>
            </a:r>
            <a:r>
              <a:rPr lang="en-US" sz="1600" dirty="0"/>
              <a:t> - Improvement suggestions and summaries</a:t>
            </a:r>
          </a:p>
          <a:p>
            <a:r>
              <a:rPr lang="en-US" sz="1600" b="1" dirty="0"/>
              <a:t>Tracks multi-year progress</a:t>
            </a:r>
            <a:r>
              <a:rPr lang="en-US" sz="1600" dirty="0"/>
              <a:t> - Compare 2026-2030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Key Innovation:</a:t>
            </a:r>
            <a:r>
              <a:rPr lang="en-US" sz="1600" dirty="0"/>
              <a:t> Privacy-first local AI deployment with comprehensive testing</a:t>
            </a:r>
          </a:p>
          <a:p>
            <a:pPr marL="0" indent="0">
              <a:buNone/>
            </a:pPr>
            <a:endParaRPr lang="en-US" sz="1600" b="1" dirty="0"/>
          </a:p>
          <a:p>
            <a:endParaRPr lang="en-US" sz="1600" b="1" dirty="0"/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D369E-A2D0-3202-0E2E-F61E5F16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406ADC6-19C7-847E-CB5E-4AFD2B18E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2"/>
          <a:stretch>
            <a:fillRect/>
          </a:stretch>
        </p:blipFill>
        <p:spPr bwMode="auto">
          <a:xfrm>
            <a:off x="4498970" y="1629781"/>
            <a:ext cx="7308859" cy="323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29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FC28-E571-6F52-B1F3-2836E43C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0B03-3BCC-47AE-6601-0950E5EF4B5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98763"/>
            <a:ext cx="4393046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545A1-70BA-DD48-449D-6B5C3FA022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376219"/>
            <a:ext cx="2041237" cy="7573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6-Layer System: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A382E-6928-4340-5A96-221DCD5D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85925AF-C833-B570-9417-B2D115693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20" b="8748"/>
          <a:stretch>
            <a:fillRect/>
          </a:stretch>
        </p:blipFill>
        <p:spPr bwMode="auto">
          <a:xfrm>
            <a:off x="2152073" y="1754909"/>
            <a:ext cx="7957414" cy="367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40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38409-FE3B-2C72-D6AC-084A72AB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AC3F-7019-0648-DB6A-974F581F0F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98763"/>
            <a:ext cx="4393046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User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28B47-07C1-9D68-9431-635C841E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DCCDA45-E42B-856B-002C-39BB0BCAC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4"/>
          <a:stretch>
            <a:fillRect/>
          </a:stretch>
        </p:blipFill>
        <p:spPr bwMode="auto">
          <a:xfrm>
            <a:off x="1799359" y="1099730"/>
            <a:ext cx="8182841" cy="506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60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D452-DC20-16AD-F146-EA0D5D61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A635-13E2-D39D-0D41-7F76226CBC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98763"/>
            <a:ext cx="4393046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369D8-5DED-4869-E535-FEF15B55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E0AC8D-5C5A-36F0-3137-0CECD2FE2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3" b="7134"/>
          <a:stretch>
            <a:fillRect/>
          </a:stretch>
        </p:blipFill>
        <p:spPr bwMode="auto">
          <a:xfrm>
            <a:off x="1176337" y="2050473"/>
            <a:ext cx="98393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629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8DE4-C778-750C-D612-021136D0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8558-CA2E-81B0-F374-CF8B75C92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98763"/>
            <a:ext cx="4393046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Analysis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0E0F1-DDF5-3739-79D3-B652449E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58C0437-7119-4CBC-DD72-F7FF7C33E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b="8232"/>
          <a:stretch>
            <a:fillRect/>
          </a:stretch>
        </p:blipFill>
        <p:spPr bwMode="auto">
          <a:xfrm>
            <a:off x="5514734" y="738894"/>
            <a:ext cx="5277332" cy="312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F766021-9CD6-52D0-562A-697C31086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7"/>
          <a:stretch>
            <a:fillRect/>
          </a:stretch>
        </p:blipFill>
        <p:spPr bwMode="auto">
          <a:xfrm>
            <a:off x="882217" y="1510544"/>
            <a:ext cx="4175317" cy="451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A95EBC5-0E68-7BCD-0446-AF5A1FD57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8"/>
          <a:stretch>
            <a:fillRect/>
          </a:stretch>
        </p:blipFill>
        <p:spPr bwMode="auto">
          <a:xfrm>
            <a:off x="6590939" y="3994811"/>
            <a:ext cx="3522086" cy="223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84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A5B6-B116-C72A-5237-148C1ABF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75F5-D9C7-2F7F-68B7-60EC49D151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498763"/>
            <a:ext cx="7277102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System Evaluation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259C1-066D-E30A-2C1B-417ACFF6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A0C1B85-4A56-6D59-4E4A-5AA152DA64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20"/>
          <a:stretch>
            <a:fillRect/>
          </a:stretch>
        </p:blipFill>
        <p:spPr bwMode="auto">
          <a:xfrm>
            <a:off x="7190015" y="1510787"/>
            <a:ext cx="4345625" cy="383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AB08471-FBED-E3F9-C829-0F55B3391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5"/>
          <a:stretch>
            <a:fillRect/>
          </a:stretch>
        </p:blipFill>
        <p:spPr bwMode="auto">
          <a:xfrm>
            <a:off x="438652" y="1727200"/>
            <a:ext cx="6215654" cy="363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73CF4C-A307-1812-66FB-F442FADA240B}"/>
              </a:ext>
            </a:extLst>
          </p:cNvPr>
          <p:cNvSpPr txBox="1"/>
          <p:nvPr/>
        </p:nvSpPr>
        <p:spPr>
          <a:xfrm>
            <a:off x="2336800" y="5657557"/>
            <a:ext cx="8356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-apple-system"/>
              </a:rPr>
              <a:t>Critical Finding: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-apple-system"/>
              </a:rPr>
              <a:t> System struggles with weak alignment detection (10% recall)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65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368B-7640-E8CE-9A78-C3F5BCD2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0AAB-3298-5135-AE5E-F7ED1C9ACE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498763"/>
            <a:ext cx="7277102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46BB1-BD2A-F62A-DD15-2AB67BCD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C052367-36A2-8DC2-EC3E-6497E7071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4" b="5397"/>
          <a:stretch>
            <a:fillRect/>
          </a:stretch>
        </p:blipFill>
        <p:spPr bwMode="auto">
          <a:xfrm>
            <a:off x="489527" y="1325130"/>
            <a:ext cx="392545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E13EB40-0367-D68E-708F-DBA2A224C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445" y="979026"/>
            <a:ext cx="6233391" cy="435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62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F717-11FE-0CB0-2DA1-6B9879C4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6957-9383-7666-8DC3-A189D80051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498763"/>
            <a:ext cx="7277102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F7EE-F04A-BE4A-287C-130F971B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EDB4C6A-9E9C-CD27-F412-7760C427D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6"/>
          <a:stretch>
            <a:fillRect/>
          </a:stretch>
        </p:blipFill>
        <p:spPr bwMode="auto">
          <a:xfrm>
            <a:off x="2636981" y="979027"/>
            <a:ext cx="6918037" cy="521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11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89F6-9EAE-2BAA-72D3-E9645AE9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C925-5E0B-17E0-5414-91895BAEC7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498763"/>
            <a:ext cx="7277102" cy="480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064FB-7E06-50EA-BCBE-FC1CDCB9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861AE-1DA0-9B6A-FD7F-F5B1FF9A1FF9}"/>
              </a:ext>
            </a:extLst>
          </p:cNvPr>
          <p:cNvSpPr txBox="1"/>
          <p:nvPr/>
        </p:nvSpPr>
        <p:spPr>
          <a:xfrm>
            <a:off x="1727200" y="1468829"/>
            <a:ext cx="9291782" cy="314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Deliverables:</a:t>
            </a: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&amp; Action Plans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1. Strategic and Action Plans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Application Prototype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https://msc-ir-cw-v4ys66njic6dv7qjtvgrry.streamlit.app/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 Architecture Diagram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 action="ppaction://hlinkfile"/>
              </a:rPr>
              <a:t>System Architecture Diagram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Design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 action="ppaction://hlinkfile"/>
              </a:rPr>
              <a:t>Dashboard Design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Testing &amp; Evaluation Results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 action="ppaction://hlinkfile"/>
              </a:rPr>
              <a:t>Testing &amp; Evaluation Results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 PDF Report – Uploaded to NIBM LMS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Presentation Slides &amp; Recording -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7. Presentation Slides and Recording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Repo – </a:t>
            </a: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https://github.com/mdpw/msc-ir-cw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68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BA88-AE61-3771-4E56-57ACB966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5E11-C0F8-23C6-FB69-7EA30FF4FA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825" y="2948737"/>
            <a:ext cx="2425703" cy="4802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A93A7-494D-C187-672A-9834A836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65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265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Amasis MT Pro Medium</vt:lpstr>
      <vt:lpstr>-apple-system</vt:lpstr>
      <vt:lpstr>Aptos</vt:lpstr>
      <vt:lpstr>Aptos Display</vt:lpstr>
      <vt:lpstr>Arial</vt:lpstr>
      <vt:lpstr>Calibri</vt:lpstr>
      <vt:lpstr>Symbol</vt:lpstr>
      <vt:lpstr>Office Theme</vt:lpstr>
      <vt:lpstr>Brandix  Intelligent Strategic Planning Synchronization System</vt:lpstr>
      <vt:lpstr>Problem &amp; Motivation</vt:lpstr>
      <vt:lpstr>System Objectives</vt:lpstr>
      <vt:lpstr>Architecture</vt:lpstr>
      <vt:lpstr>User Interface</vt:lpstr>
      <vt:lpstr>Technology Stack</vt:lpstr>
      <vt:lpstr>Analysis Results</vt:lpstr>
      <vt:lpstr>System Evaluation Results</vt:lpstr>
      <vt:lpstr>Limitations &amp; Future Work</vt:lpstr>
      <vt:lpstr>Limitations &amp; Future Work</vt:lpstr>
      <vt:lpstr>Appendix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Wijesuriya</dc:creator>
  <cp:lastModifiedBy>Dinesh Wijesuriya</cp:lastModifiedBy>
  <cp:revision>10</cp:revision>
  <dcterms:created xsi:type="dcterms:W3CDTF">2026-02-14T18:11:24Z</dcterms:created>
  <dcterms:modified xsi:type="dcterms:W3CDTF">2026-02-15T05:52:25Z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