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702" r:id="rId4"/>
  </p:sldMasterIdLst>
  <p:notesMasterIdLst>
    <p:notesMasterId r:id="rId16"/>
  </p:notesMasterIdLst>
  <p:handoutMasterIdLst>
    <p:handoutMasterId r:id="rId17"/>
  </p:handoutMasterIdLst>
  <p:sldIdLst>
    <p:sldId id="256" r:id="rId5"/>
    <p:sldId id="277" r:id="rId6"/>
    <p:sldId id="295" r:id="rId7"/>
    <p:sldId id="296" r:id="rId8"/>
    <p:sldId id="301" r:id="rId9"/>
    <p:sldId id="297" r:id="rId10"/>
    <p:sldId id="298" r:id="rId11"/>
    <p:sldId id="299" r:id="rId12"/>
    <p:sldId id="300" r:id="rId13"/>
    <p:sldId id="302" r:id="rId14"/>
    <p:sldId id="303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360" userDrawn="1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Author" initials="A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9E6D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7E9639D4-E3E2-4D34-9284-5A2195B3D0D7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09" autoAdjust="0"/>
  </p:normalViewPr>
  <p:slideViewPr>
    <p:cSldViewPr snapToGrid="0">
      <p:cViewPr varScale="1">
        <p:scale>
          <a:sx n="104" d="100"/>
          <a:sy n="104" d="100"/>
        </p:scale>
        <p:origin x="870" y="114"/>
      </p:cViewPr>
      <p:guideLst>
        <p:guide orient="horz" pos="33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commentAuthors" Target="commentAuthors.xml"/><Relationship Id="rId3" Type="http://schemas.openxmlformats.org/officeDocument/2006/relationships/customXml" Target="../customXml/item3.xml"/><Relationship Id="rId21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6" Type="http://schemas.openxmlformats.org/officeDocument/2006/relationships/notesMaster" Target="notesMasters/notesMaster1.xml"/><Relationship Id="rId20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microsoft.com/office/2018/10/relationships/authors" Target="authors.xml"/><Relationship Id="rId10" Type="http://schemas.openxmlformats.org/officeDocument/2006/relationships/slide" Target="slides/slide6.xml"/><Relationship Id="rId19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3F6ED8B-CF52-4A64-BACC-61D9C1041E0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D7022B2-02C5-4E03-99BC-0BA3C57AC49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352A77B-D33C-49B3-A83C-450AA2ED72B3}" type="datetimeFigureOut">
              <a:rPr lang="en-US" smtClean="0"/>
              <a:t>2/14/2026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C3FEE8C-8D38-4F2A-950E-071C6823E27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567A6D-959B-4552-AB8D-4CCA819CAA7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BF9A36D-7FAC-478F-9944-F324014F6F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246769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38D8F9A-F5CB-4EF8-A859-ED5E107B9763}" type="datetimeFigureOut">
              <a:rPr lang="en-US" smtClean="0"/>
              <a:t>2/14/2026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4B9A9E5-4F7F-4A7D-9DE1-89923232926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77831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BD52D5-764A-F583-3DB7-22D0053534F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F1249B6-A01F-70F1-4DEE-75272396A1C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0656DF-DE54-6681-555E-790FAEF108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CD5EB2-219C-4ADE-9396-FBC345A47DB3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5C1178-A758-F585-7866-FD1A77CE31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48300E-C943-0904-531E-4246AD69BC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349DE9-DE80-4F9E-9C37-19AADE5B07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89496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E7B9E4-38D3-AE51-6ED3-FD9865DE86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6AAC3D-71FD-3982-9E98-CC77AA4D05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ABC956-0020-3349-A69E-1C6B500FCF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642A08-0B25-5F0B-60FC-3A37396648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Pitch Deck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F0C8F2-B04F-979F-F66D-8D76E7825A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4930088"/>
      </p:ext>
    </p:extLst>
  </p:cSld>
  <p:clrMapOvr>
    <a:masterClrMapping/>
  </p:clrMapOvr>
  <p:hf hdr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F0A9E1-F6F8-507F-6D68-6B9313232A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D57539-EE72-6C01-AF6A-885C677F0E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65465A-5323-4964-03E6-B3EAEB515B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6B1AE8-98F1-45A7-9C4F-CB5D80E265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Pitch Deck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A5EA9C-ED92-88F0-AB2E-2E0AC3A2E3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77708678"/>
      </p:ext>
    </p:extLst>
  </p:cSld>
  <p:clrMapOvr>
    <a:masterClrMapping/>
  </p:clrMapOvr>
  <p:hf hdr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E58C6A-C72F-AAA7-4C56-1A9FBA07FE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25FBE8-CC68-4716-BBAB-238B7D8A4A2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C17883-82E5-AFB8-B9AE-027BAF520A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9432038-6CB2-646B-8126-E6C025EF24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A5CF7A7-C782-EC9C-6E79-A49084708C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Pitch Deck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1E32EC1-9BC9-8E04-874C-CB0064462C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5128462"/>
      </p:ext>
    </p:extLst>
  </p:cSld>
  <p:clrMapOvr>
    <a:masterClrMapping/>
  </p:clrMapOvr>
  <p:hf hdr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715319-CC67-A93B-338F-29EFA0E8E3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A5C293-313C-328C-327D-C363620547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9045492-8CEB-4EF8-67E6-44424CA9FE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B9FA8BE-5DF7-F7A2-EB22-96F98338342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01873A0-D984-4461-48FB-6680FC49FD8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E37518A-737D-1DBC-0A4E-C73497F22C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E78BB7A-CC4C-27A3-6E4F-639E03A7B1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Pitch Deck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6010FA5-B774-9EF6-5858-6784B9ADD4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78299578"/>
      </p:ext>
    </p:extLst>
  </p:cSld>
  <p:clrMapOvr>
    <a:masterClrMapping/>
  </p:clrMapOvr>
  <p:hf hdr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14B3D1-9799-2367-35BA-29A8C815C7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0AE1A84-8D56-432B-A8B0-C12FEE5AD1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1799BF1-1883-55C9-D9DF-B0F348CF61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Pitch Deck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B22DF89-FD0D-D75A-FAB9-278C26C8E1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1388160"/>
      </p:ext>
    </p:extLst>
  </p:cSld>
  <p:clrMapOvr>
    <a:masterClrMapping/>
  </p:clrMapOvr>
  <p:hf hdr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3E925D9-6630-2568-F5DE-1E97AA2683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FE0F14B-ACBA-4429-F048-CDBF56DAA6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Pitch Deck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37D54A-5889-EB7B-B54F-6A1ABA6A37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12984164"/>
      </p:ext>
    </p:extLst>
  </p:cSld>
  <p:clrMapOvr>
    <a:masterClrMapping/>
  </p:clrMapOvr>
  <p:hf hdr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418F07-9FCB-16E1-EA02-9242B7D49D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8BEBF9-916C-438B-DCF5-65E6D38C05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2CF8C4-BB08-88B4-38F0-B93A690CABA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7066824-883C-7986-F61D-28D6319EF9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8B8383-D351-7571-65AA-0404530CC2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Pitch Deck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D8A40D9-20A3-B07B-20FE-021E56C7A8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9773697"/>
      </p:ext>
    </p:extLst>
  </p:cSld>
  <p:clrMapOvr>
    <a:masterClrMapping/>
  </p:clrMapOvr>
  <p:hf hdr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FAE3BD-E79C-2C86-BDE5-5B05731617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D20C0FA-0798-0827-F96B-1C699B641D5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2FE9887-4261-B544-B2F4-91B854C822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B678E9D-27E9-FE18-18AE-D9C39DAD44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59BE35F-E729-E6EB-5EBD-DE98F19F57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Pitch Deck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1A0525-387B-62B2-D309-CB70130DAF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5352104"/>
      </p:ext>
    </p:extLst>
  </p:cSld>
  <p:clrMapOvr>
    <a:masterClrMapping/>
  </p:clrMapOvr>
  <p:hf hdr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C51B2-DD12-8ED9-CEF5-863489C460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7DB0E62-6E21-07D1-787F-83D5EC58A36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AE765E-D590-E623-BEB8-7618E7A1F9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671BFF-5689-5024-D04B-491888F0ED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Pitch Deck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0598A3-50D4-9CC7-7AEB-C5CC989088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7905642"/>
      </p:ext>
    </p:extLst>
  </p:cSld>
  <p:clrMapOvr>
    <a:masterClrMapping/>
  </p:clrMapOvr>
  <p:hf hdr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C50474D-AAA1-F4DA-9D9D-2C2E9B37142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8BF6EA-5998-23BE-F844-D4156A45A9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2879B5-8A45-EA78-5A06-F765063DF8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B4CC5B-7799-079F-1367-77217B3F5D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Pitch Deck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43EC31-2770-C3D1-7C0A-EFADD5D4E3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5600324"/>
      </p:ext>
    </p:extLst>
  </p:cSld>
  <p:clrMapOvr>
    <a:masterClrMapping/>
  </p:clrMapOvr>
  <p:hf hdr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F31029B-4AA7-D3A8-68CC-D22B53F7D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719A49-EBDB-D7A2-50F6-803185C031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C2AA25-9066-0DB5-A90C-4EFBB7DF152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76C727-5358-D217-F179-19AA7550F6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/>
              <a:t>Pitch Deck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1A8D97-405E-1BED-52FF-F88C0A6C923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702629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3" r:id="rId1"/>
    <p:sldLayoutId id="2147483704" r:id="rId2"/>
    <p:sldLayoutId id="2147483705" r:id="rId3"/>
    <p:sldLayoutId id="2147483706" r:id="rId4"/>
    <p:sldLayoutId id="2147483707" r:id="rId5"/>
    <p:sldLayoutId id="2147483708" r:id="rId6"/>
    <p:sldLayoutId id="2147483709" r:id="rId7"/>
    <p:sldLayoutId id="2147483710" r:id="rId8"/>
    <p:sldLayoutId id="2147483711" r:id="rId9"/>
    <p:sldLayoutId id="2147483712" r:id="rId10"/>
    <p:sldLayoutId id="2147483713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6815C6-3AD0-46E6-A74A-1967BD91AF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041400"/>
            <a:ext cx="9144000" cy="2387600"/>
          </a:xfrm>
        </p:spPr>
        <p:txBody>
          <a:bodyPr>
            <a:normAutofit fontScale="90000"/>
          </a:bodyPr>
          <a:lstStyle/>
          <a:p>
            <a:r>
              <a:rPr lang="en-US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accent5"/>
                </a:solidFill>
                <a:effectLst>
                  <a:outerShdw blurRad="12700" dist="38100" dir="2700000" algn="tl" rotWithShape="0">
                    <a:schemeClr val="accent5">
                      <a:lumMod val="60000"/>
                      <a:lumOff val="40000"/>
                    </a:schemeClr>
                  </a:outerShdw>
                </a:effectLst>
              </a:rPr>
              <a:t>Brandix </a:t>
            </a:r>
            <a:br>
              <a:rPr lang="en-US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accent5"/>
                </a:solidFill>
                <a:effectLst>
                  <a:outerShdw blurRad="12700" dist="38100" dir="2700000" algn="tl" rotWithShape="0">
                    <a:schemeClr val="accent5">
                      <a:lumMod val="60000"/>
                      <a:lumOff val="40000"/>
                    </a:schemeClr>
                  </a:outerShdw>
                </a:effectLst>
              </a:rPr>
            </a:br>
            <a:r>
              <a:rPr lang="en-US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accent5"/>
                </a:solidFill>
                <a:effectLst>
                  <a:outerShdw blurRad="12700" dist="38100" dir="2700000" algn="tl" rotWithShape="0">
                    <a:schemeClr val="accent5">
                      <a:lumMod val="60000"/>
                      <a:lumOff val="40000"/>
                    </a:schemeClr>
                  </a:outerShdw>
                </a:effectLst>
              </a:rPr>
              <a:t>Intelligent Strategic Planning Synchronization System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7D23E359-CAEB-9EA2-7B0F-F5801694054D}"/>
              </a:ext>
            </a:extLst>
          </p:cNvPr>
          <p:cNvSpPr txBox="1">
            <a:spLocks/>
          </p:cNvSpPr>
          <p:nvPr/>
        </p:nvSpPr>
        <p:spPr>
          <a:xfrm>
            <a:off x="1392242" y="4304000"/>
            <a:ext cx="4786884" cy="17526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160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masis MT Pro Medium" panose="02040604050005020304" pitchFamily="18" charset="0"/>
              <a:cs typeface="AngsanaUPC" panose="020B0502040204020203" pitchFamily="18" charset="-34"/>
            </a:endParaRPr>
          </a:p>
          <a:p>
            <a:r>
              <a:rPr lang="en-US" sz="16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masis MT Pro Medium" panose="02040604050005020304" pitchFamily="18" charset="0"/>
                <a:cs typeface="AngsanaUPC" panose="020B0502040204020203" pitchFamily="18" charset="-34"/>
              </a:rPr>
              <a:t>Information Retrieval </a:t>
            </a:r>
          </a:p>
          <a:p>
            <a:r>
              <a:rPr lang="en-US" sz="16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masis MT Pro Medium" panose="02040604050005020304" pitchFamily="18" charset="0"/>
                <a:cs typeface="AngsanaUPC" panose="020B0502040204020203" pitchFamily="18" charset="-34"/>
              </a:rPr>
              <a:t>MSc. Data Science</a:t>
            </a:r>
          </a:p>
          <a:p>
            <a:r>
              <a:rPr lang="en-US" sz="16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masis MT Pro Medium" panose="02040604050005020304" pitchFamily="18" charset="0"/>
                <a:cs typeface="AngsanaUPC" panose="020B0502040204020203" pitchFamily="18" charset="-34"/>
              </a:rPr>
              <a:t>Coventry University, UK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D8DFD58D-20CC-F8FE-F637-63F0F7B6A794}"/>
              </a:ext>
            </a:extLst>
          </p:cNvPr>
          <p:cNvSpPr txBox="1">
            <a:spLocks/>
          </p:cNvSpPr>
          <p:nvPr/>
        </p:nvSpPr>
        <p:spPr>
          <a:xfrm>
            <a:off x="5881116" y="4553321"/>
            <a:ext cx="4786884" cy="17526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masis MT Pro Medium" panose="02040604050005020304" pitchFamily="18" charset="0"/>
                <a:cs typeface="AngsanaUPC" panose="020B0502040204020203" pitchFamily="18" charset="-34"/>
              </a:rPr>
              <a:t>M.D.P. Wijesuriya</a:t>
            </a:r>
          </a:p>
          <a:p>
            <a:r>
              <a:rPr lang="en-US" sz="16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masis MT Pro Medium" panose="02040604050005020304" pitchFamily="18" charset="0"/>
                <a:cs typeface="AngsanaUPC" panose="020B0502040204020203" pitchFamily="18" charset="-34"/>
              </a:rPr>
              <a:t>Student ID (Coventry Uni.): 15764609</a:t>
            </a:r>
          </a:p>
          <a:p>
            <a:r>
              <a:rPr lang="en-US" sz="16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masis MT Pro Medium" panose="02040604050005020304" pitchFamily="18" charset="0"/>
                <a:cs typeface="AngsanaUPC" panose="020B0502040204020203" pitchFamily="18" charset="-34"/>
              </a:rPr>
              <a:t>Student ID (NIBM): comscds241p-002</a:t>
            </a:r>
          </a:p>
          <a:p>
            <a:r>
              <a:rPr lang="en-US" sz="16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masis MT Pro Medium" panose="02040604050005020304" pitchFamily="18" charset="0"/>
                <a:cs typeface="AngsanaUPC" panose="020B0502040204020203" pitchFamily="18" charset="-34"/>
              </a:rPr>
              <a:t>2024 Batch</a:t>
            </a:r>
          </a:p>
        </p:txBody>
      </p:sp>
    </p:spTree>
    <p:extLst>
      <p:ext uri="{BB962C8B-B14F-4D97-AF65-F5344CB8AC3E}">
        <p14:creationId xmlns:p14="http://schemas.microsoft.com/office/powerpoint/2010/main" val="16424253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19F29B-F233-48AF-8261-F33A4E079E3E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33498" y="498763"/>
            <a:ext cx="7277101" cy="480263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Problem &amp; Motivation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5E3EA69-4E0E-41BD-8095-A124225A2647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33498" y="1366982"/>
            <a:ext cx="9131301" cy="485832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800" b="1" dirty="0"/>
              <a:t>The Challenge:</a:t>
            </a:r>
            <a:endParaRPr lang="en-US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/>
              <a:t>Organizations struggle to align 5-year strategic plans with annual action plans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/>
              <a:t>Manual verification is time-consuming and subjective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/>
              <a:t>Gaps discovered too late</a:t>
            </a:r>
          </a:p>
          <a:p>
            <a:endParaRPr lang="en-US" sz="1800" b="1" dirty="0"/>
          </a:p>
          <a:p>
            <a:pPr marL="0" indent="0">
              <a:buNone/>
            </a:pPr>
            <a:r>
              <a:rPr lang="en-US" sz="1800" b="1" dirty="0"/>
              <a:t>Brandix Case:</a:t>
            </a:r>
            <a:endParaRPr lang="en-US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/>
              <a:t>179 strategic objectives (2025-2030)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/>
              <a:t>Different actions in multiple annual action plans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/>
              <a:t>Need automated, objective alignment measurement</a:t>
            </a:r>
          </a:p>
          <a:p>
            <a:endParaRPr lang="en-US" sz="1800" b="1" dirty="0"/>
          </a:p>
          <a:p>
            <a:pPr marL="0" indent="0">
              <a:buNone/>
            </a:pPr>
            <a:r>
              <a:rPr lang="en-US" sz="1800" b="1" dirty="0"/>
              <a:t>Solution:</a:t>
            </a:r>
            <a:r>
              <a:rPr lang="en-US" sz="1800" dirty="0"/>
              <a:t> AI-powered semantic analysis system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8F602C-7F98-4C02-99D4-ED65E00D66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B51A1E-902D-48AF-9020-955120F399B6}" type="slidenum">
              <a:rPr lang="en-US" smtClean="0"/>
              <a:pPr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434949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943634-EF81-379D-B872-A6936D1998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34B59E-6EB0-CF48-E4E9-6D18AC793C2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33499" y="498763"/>
            <a:ext cx="4393046" cy="480263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System Objectives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33A2170-BBBF-8F55-315B-5D99E8E9F0AA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4254" y="1366983"/>
            <a:ext cx="4045527" cy="440574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600" b="1" dirty="0"/>
              <a:t>What ISPS Does:</a:t>
            </a:r>
          </a:p>
          <a:p>
            <a:pPr marL="0" indent="0">
              <a:buNone/>
            </a:pPr>
            <a:endParaRPr lang="en-US" sz="1600" b="1" dirty="0"/>
          </a:p>
          <a:p>
            <a:r>
              <a:rPr lang="en-US" sz="1600" b="1" dirty="0"/>
              <a:t>Automates alignment analysis -</a:t>
            </a:r>
            <a:r>
              <a:rPr lang="en-US" sz="1600" dirty="0"/>
              <a:t> Semantic similarity matching</a:t>
            </a:r>
          </a:p>
          <a:p>
            <a:r>
              <a:rPr lang="en-US" sz="1600" b="1" dirty="0"/>
              <a:t>Identifies strategic gaps</a:t>
            </a:r>
            <a:r>
              <a:rPr lang="en-US" sz="1600" dirty="0"/>
              <a:t> - Detects weak alignments and orphans</a:t>
            </a:r>
          </a:p>
          <a:p>
            <a:r>
              <a:rPr lang="en-US" sz="1600" b="1" dirty="0"/>
              <a:t>Generates AI insights</a:t>
            </a:r>
            <a:r>
              <a:rPr lang="en-US" sz="1600" dirty="0"/>
              <a:t> - Improvement suggestions and summaries</a:t>
            </a:r>
          </a:p>
          <a:p>
            <a:r>
              <a:rPr lang="en-US" sz="1600" b="1" dirty="0"/>
              <a:t>Tracks multi-year progress</a:t>
            </a:r>
            <a:r>
              <a:rPr lang="en-US" sz="1600" dirty="0"/>
              <a:t> - Compare 2026-2030</a:t>
            </a:r>
          </a:p>
          <a:p>
            <a:pPr marL="0" indent="0">
              <a:buNone/>
            </a:pPr>
            <a:endParaRPr lang="en-US" sz="1600" b="1" dirty="0"/>
          </a:p>
          <a:p>
            <a:pPr marL="0" indent="0">
              <a:buNone/>
            </a:pPr>
            <a:endParaRPr lang="en-US" sz="1600" b="1" dirty="0"/>
          </a:p>
          <a:p>
            <a:pPr marL="0" indent="0">
              <a:buNone/>
            </a:pPr>
            <a:r>
              <a:rPr lang="en-US" sz="1600" b="1" dirty="0"/>
              <a:t>Key Innovation:</a:t>
            </a:r>
            <a:r>
              <a:rPr lang="en-US" sz="1600" dirty="0"/>
              <a:t> Privacy-first local AI deployment with comprehensive testing</a:t>
            </a:r>
          </a:p>
          <a:p>
            <a:pPr marL="0" indent="0">
              <a:buNone/>
            </a:pPr>
            <a:endParaRPr lang="en-US" sz="1600" b="1" dirty="0"/>
          </a:p>
          <a:p>
            <a:endParaRPr lang="en-US" sz="1600" b="1" dirty="0"/>
          </a:p>
          <a:p>
            <a:endParaRPr lang="en-US" sz="16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3D369E-A2D0-3202-0E2E-F61E5F1671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B51A1E-902D-48AF-9020-955120F399B6}" type="slidenum">
              <a:rPr lang="en-US" smtClean="0"/>
              <a:pPr/>
              <a:t>3</a:t>
            </a:fld>
            <a:endParaRPr lang="en-US" dirty="0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E406ADC6-19C7-847E-CB5E-4AFD2B18E89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7182"/>
          <a:stretch>
            <a:fillRect/>
          </a:stretch>
        </p:blipFill>
        <p:spPr bwMode="auto">
          <a:xfrm>
            <a:off x="4498970" y="1629781"/>
            <a:ext cx="7308859" cy="32377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542941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24FC28-E571-6F52-B1F3-2836E43CAF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EA0B03-3BCC-47AE-6601-0950E5EF4B56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33499" y="498763"/>
            <a:ext cx="4393046" cy="480263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Architecture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10545A1-70BA-DD48-449D-6B5C3FA02253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33499" y="1376219"/>
            <a:ext cx="2041237" cy="757381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600" b="1" dirty="0"/>
              <a:t>6-Layer System: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6A382E-6928-4340-5A96-221DCD5DDB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B51A1E-902D-48AF-9020-955120F399B6}" type="slidenum">
              <a:rPr lang="en-US" smtClean="0"/>
              <a:pPr/>
              <a:t>4</a:t>
            </a:fld>
            <a:endParaRPr lang="en-US" dirty="0"/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985925AF-C833-B570-9417-B2D1156930F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620" b="8748"/>
          <a:stretch>
            <a:fillRect/>
          </a:stretch>
        </p:blipFill>
        <p:spPr bwMode="auto">
          <a:xfrm>
            <a:off x="2152073" y="1754909"/>
            <a:ext cx="7957414" cy="36714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014072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738409-FE3B-2C72-D6AC-084A72ABAE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76AC3F-7019-0648-DB6A-974F581F0F96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33499" y="498763"/>
            <a:ext cx="4393046" cy="480263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User Interface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528B47-07C1-9D68-9431-635C841E92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B51A1E-902D-48AF-9020-955120F399B6}" type="slidenum">
              <a:rPr lang="en-US" smtClean="0"/>
              <a:pPr/>
              <a:t>5</a:t>
            </a:fld>
            <a:endParaRPr lang="en-US" dirty="0"/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1DCCDA45-E42B-856B-002C-39BB0BCACB8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954"/>
          <a:stretch>
            <a:fillRect/>
          </a:stretch>
        </p:blipFill>
        <p:spPr bwMode="auto">
          <a:xfrm>
            <a:off x="1799359" y="1099730"/>
            <a:ext cx="8182841" cy="50609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126048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E7D452-DC20-16AD-F146-EA0D5D61BF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B5A635-13E2-D39D-0D41-7F76226CBC75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33499" y="498763"/>
            <a:ext cx="4393046" cy="480263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Technology Stack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0369D8-5DED-4869-E535-FEF15B55EE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B51A1E-902D-48AF-9020-955120F399B6}" type="slidenum">
              <a:rPr lang="en-US" smtClean="0"/>
              <a:pPr/>
              <a:t>6</a:t>
            </a:fld>
            <a:endParaRPr lang="en-US" dirty="0"/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36E0AC8D-5C5A-36F0-3137-0CECD2FE20B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303" b="7134"/>
          <a:stretch>
            <a:fillRect/>
          </a:stretch>
        </p:blipFill>
        <p:spPr bwMode="auto">
          <a:xfrm>
            <a:off x="1176337" y="2050473"/>
            <a:ext cx="9839325" cy="3657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996295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878DE4-C778-750C-D612-021136D046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148558-CA2E-81B0-F374-CF8B75C92657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33499" y="498763"/>
            <a:ext cx="4393046" cy="480263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Analysis Results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B0E0F1-DDF5-3739-79D3-B652449E57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B51A1E-902D-48AF-9020-955120F399B6}" type="slidenum">
              <a:rPr lang="en-US" smtClean="0"/>
              <a:pPr/>
              <a:t>7</a:t>
            </a:fld>
            <a:endParaRPr lang="en-US" dirty="0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558C0437-7119-4CBC-DD72-F7FF7C33EFE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889" b="8232"/>
          <a:stretch>
            <a:fillRect/>
          </a:stretch>
        </p:blipFill>
        <p:spPr bwMode="auto">
          <a:xfrm>
            <a:off x="5514734" y="738894"/>
            <a:ext cx="5277332" cy="31265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2" name="Picture 6">
            <a:extLst>
              <a:ext uri="{FF2B5EF4-FFF2-40B4-BE49-F238E27FC236}">
                <a16:creationId xmlns:a16="http://schemas.microsoft.com/office/drawing/2014/main" id="{1F766021-9CD6-52D0-562A-697C310861C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897"/>
          <a:stretch>
            <a:fillRect/>
          </a:stretch>
        </p:blipFill>
        <p:spPr bwMode="auto">
          <a:xfrm>
            <a:off x="882217" y="1510544"/>
            <a:ext cx="4175317" cy="45115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4" name="Picture 8">
            <a:extLst>
              <a:ext uri="{FF2B5EF4-FFF2-40B4-BE49-F238E27FC236}">
                <a16:creationId xmlns:a16="http://schemas.microsoft.com/office/drawing/2014/main" id="{1A95EBC5-0E68-7BCD-0446-AF5A1FD573F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888"/>
          <a:stretch>
            <a:fillRect/>
          </a:stretch>
        </p:blipFill>
        <p:spPr bwMode="auto">
          <a:xfrm>
            <a:off x="6590939" y="3994811"/>
            <a:ext cx="3522086" cy="22321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988435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AAA5B6-B116-C72A-5237-148C1ABF8D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EA75F5-D9C7-2F7F-68B7-60EC49D1511B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33498" y="498763"/>
            <a:ext cx="7277102" cy="480263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System Evaluation Results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B259C1-066D-E30A-2C1B-417ACFF6F5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B51A1E-902D-48AF-9020-955120F399B6}" type="slidenum">
              <a:rPr lang="en-US" smtClean="0"/>
              <a:pPr/>
              <a:t>8</a:t>
            </a:fld>
            <a:endParaRPr lang="en-US" dirty="0"/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DA0C1B85-4A56-6D59-4E4A-5AA152DA645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7320"/>
          <a:stretch>
            <a:fillRect/>
          </a:stretch>
        </p:blipFill>
        <p:spPr bwMode="auto">
          <a:xfrm>
            <a:off x="7190015" y="1510787"/>
            <a:ext cx="4345625" cy="38364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4" name="Picture 4">
            <a:extLst>
              <a:ext uri="{FF2B5EF4-FFF2-40B4-BE49-F238E27FC236}">
                <a16:creationId xmlns:a16="http://schemas.microsoft.com/office/drawing/2014/main" id="{DAB08471-FBED-E3F9-C829-0F55B3391C7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855"/>
          <a:stretch>
            <a:fillRect/>
          </a:stretch>
        </p:blipFill>
        <p:spPr bwMode="auto">
          <a:xfrm>
            <a:off x="438652" y="1727200"/>
            <a:ext cx="6215654" cy="36391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C73CF4C-A307-1812-66FB-F442FADA240B}"/>
              </a:ext>
            </a:extLst>
          </p:cNvPr>
          <p:cNvSpPr txBox="1"/>
          <p:nvPr/>
        </p:nvSpPr>
        <p:spPr>
          <a:xfrm>
            <a:off x="2336800" y="5657557"/>
            <a:ext cx="835610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-apple-system"/>
              </a:rPr>
              <a:t>Critical Finding:</a:t>
            </a:r>
            <a:r>
              <a:rPr lang="en-US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-apple-system"/>
              </a:rPr>
              <a:t> System struggles with weak alignment detection (10% recall)</a:t>
            </a:r>
            <a:endParaRPr lang="en-US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476598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92368B-7640-E8CE-9A78-C3F5BCD23C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570AAB-3298-5135-AE5E-F7ED1C9ACE87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33498" y="498763"/>
            <a:ext cx="7277102" cy="480263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Limitations &amp; Future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646BB1-BD2A-F62A-DD15-2AB67BCD73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B51A1E-902D-48AF-9020-955120F399B6}" type="slidenum">
              <a:rPr lang="en-US" smtClean="0"/>
              <a:pPr/>
              <a:t>9</a:t>
            </a:fld>
            <a:endParaRPr lang="en-US" dirty="0"/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0C052367-36A2-8DC2-EC3E-6497E707152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204" b="5397"/>
          <a:stretch>
            <a:fillRect/>
          </a:stretch>
        </p:blipFill>
        <p:spPr bwMode="auto">
          <a:xfrm>
            <a:off x="489527" y="1325130"/>
            <a:ext cx="3925455" cy="457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2" name="Picture 4">
            <a:extLst>
              <a:ext uri="{FF2B5EF4-FFF2-40B4-BE49-F238E27FC236}">
                <a16:creationId xmlns:a16="http://schemas.microsoft.com/office/drawing/2014/main" id="{1E13EB40-0367-D68E-708F-DBA2A224C6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45445" y="979026"/>
            <a:ext cx="6233391" cy="43526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206271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A2F717-11FE-0CB0-2DA1-6B9879C40A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926957-9383-7666-8DC3-A189D80051AA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33498" y="498763"/>
            <a:ext cx="7277102" cy="480263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Limitations &amp; Future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F3F7EE-F04A-BE4A-287C-130F971BEF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B51A1E-902D-48AF-9020-955120F399B6}" type="slidenum">
              <a:rPr lang="en-US" smtClean="0"/>
              <a:pPr/>
              <a:t>10</a:t>
            </a:fld>
            <a:endParaRPr lang="en-US" dirty="0"/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6EDB4C6A-9E9C-CD27-F412-7760C427D87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096"/>
          <a:stretch>
            <a:fillRect/>
          </a:stretch>
        </p:blipFill>
        <p:spPr bwMode="auto">
          <a:xfrm>
            <a:off x="2636981" y="979027"/>
            <a:ext cx="6918037" cy="52185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341138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AEBA88-AE61-3771-4E56-57ACB966BC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BA5E11-C0F8-23C6-FB69-7EA30FF4FA13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7825" y="2948737"/>
            <a:ext cx="2425703" cy="480263"/>
          </a:xfrm>
        </p:spPr>
        <p:txBody>
          <a:bodyPr>
            <a:normAutofit fontScale="90000"/>
          </a:bodyPr>
          <a:lstStyle/>
          <a:p>
            <a:r>
              <a:rPr lang="en-US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accent5"/>
                </a:solidFill>
                <a:effectLst>
                  <a:outerShdw blurRad="12700" dist="38100" dir="2700000" algn="tl" rotWithShape="0">
                    <a:schemeClr val="accent5">
                      <a:lumMod val="60000"/>
                      <a:lumOff val="40000"/>
                    </a:schemeClr>
                  </a:outerShdw>
                </a:effectLst>
              </a:rPr>
              <a:t>Thank You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1A93A7-494D-C187-672A-9834A836A3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B51A1E-902D-48AF-9020-955120F399B6}" type="slidenum">
              <a:rPr lang="en-US" smtClean="0"/>
              <a:pPr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76520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7" ma:contentTypeDescription="Create a new document." ma:contentTypeScope="" ma:versionID="c6f9a84f66a9c8b9a21755b9ffafb945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27df39e3e7036dff54f89ddd5805ce72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6966C46A-DC57-4209-80CD-9FE6C93151FF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4E18436D-DA32-4E27-AC64-8FFEDA5218F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BEFFFA3F-0FB5-4ED3-8906-A15B16577F44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79</TotalTime>
  <Words>187</Words>
  <Application>Microsoft Office PowerPoint</Application>
  <PresentationFormat>Widescreen</PresentationFormat>
  <Paragraphs>52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8" baseType="lpstr">
      <vt:lpstr>Amasis MT Pro Medium</vt:lpstr>
      <vt:lpstr>-apple-system</vt:lpstr>
      <vt:lpstr>Aptos</vt:lpstr>
      <vt:lpstr>Aptos Display</vt:lpstr>
      <vt:lpstr>Arial</vt:lpstr>
      <vt:lpstr>Calibri</vt:lpstr>
      <vt:lpstr>Office Theme</vt:lpstr>
      <vt:lpstr>Brandix  Intelligent Strategic Planning Synchronization System</vt:lpstr>
      <vt:lpstr>Problem &amp; Motivation</vt:lpstr>
      <vt:lpstr>System Objectives</vt:lpstr>
      <vt:lpstr>Architecture</vt:lpstr>
      <vt:lpstr>User Interface</vt:lpstr>
      <vt:lpstr>Technology Stack</vt:lpstr>
      <vt:lpstr>Analysis Results</vt:lpstr>
      <vt:lpstr>System Evaluation Results</vt:lpstr>
      <vt:lpstr>Limitations &amp; Future Work</vt:lpstr>
      <vt:lpstr>Limitations &amp; Future Work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Dinesh Wijesuriya</dc:creator>
  <cp:lastModifiedBy>Dinesh Wijesuriya</cp:lastModifiedBy>
  <cp:revision>8</cp:revision>
  <dcterms:created xsi:type="dcterms:W3CDTF">2026-02-14T18:11:24Z</dcterms:created>
  <dcterms:modified xsi:type="dcterms:W3CDTF">2026-02-14T19:31:07Z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